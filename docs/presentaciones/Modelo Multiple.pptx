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mpact" charset="1" panose="020B0806030902050204"/>
      <p:regular r:id="rId16"/>
    </p:embeddedFont>
    <p:embeddedFont>
      <p:font typeface="Poppins" charset="1" panose="00000500000000000000"/>
      <p:regular r:id="rId17"/>
    </p:embeddedFont>
    <p:embeddedFont>
      <p:font typeface="Poppins Italics" charset="1" panose="00000500000000000000"/>
      <p:regular r:id="rId18"/>
    </p:embeddedFont>
    <p:embeddedFont>
      <p:font typeface="Anton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66517">
            <a:off x="8172982" y="-1473762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93551">
            <a:off x="-3091661" y="3509943"/>
            <a:ext cx="15325477" cy="8242765"/>
          </a:xfrm>
          <a:custGeom>
            <a:avLst/>
            <a:gdLst/>
            <a:ahLst/>
            <a:cxnLst/>
            <a:rect r="r" b="b" t="t" l="l"/>
            <a:pathLst>
              <a:path h="8242765" w="15325477">
                <a:moveTo>
                  <a:pt x="0" y="0"/>
                </a:moveTo>
                <a:lnTo>
                  <a:pt x="15325477" y="0"/>
                </a:lnTo>
                <a:lnTo>
                  <a:pt x="15325477" y="8242765"/>
                </a:lnTo>
                <a:lnTo>
                  <a:pt x="0" y="8242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50042" y="349542"/>
            <a:ext cx="9587917" cy="9587917"/>
          </a:xfrm>
          <a:custGeom>
            <a:avLst/>
            <a:gdLst/>
            <a:ahLst/>
            <a:cxnLst/>
            <a:rect r="r" b="b" t="t" l="l"/>
            <a:pathLst>
              <a:path h="9587917" w="9587917">
                <a:moveTo>
                  <a:pt x="0" y="0"/>
                </a:moveTo>
                <a:lnTo>
                  <a:pt x="9587916" y="0"/>
                </a:lnTo>
                <a:lnTo>
                  <a:pt x="9587916" y="9587916"/>
                </a:lnTo>
                <a:lnTo>
                  <a:pt x="0" y="9587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84372" y="2302347"/>
            <a:ext cx="14319257" cy="284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51"/>
              </a:lnSpc>
            </a:pPr>
            <a:r>
              <a:rPr lang="en-US" sz="14893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MODELO MULTIPLE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84925" y="5417493"/>
            <a:ext cx="5718150" cy="3000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EQUIPO 4:</a:t>
            </a:r>
          </a:p>
          <a:p>
            <a:pPr algn="ctr">
              <a:lnSpc>
                <a:spcPts val="4736"/>
              </a:lnSpc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SAMUEL RODAS</a:t>
            </a:r>
          </a:p>
          <a:p>
            <a:pPr algn="ctr">
              <a:lnSpc>
                <a:spcPts val="4736"/>
              </a:lnSpc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JUAN PABLO GÓMEZ</a:t>
            </a:r>
          </a:p>
          <a:p>
            <a:pPr algn="ctr">
              <a:lnSpc>
                <a:spcPts val="4736"/>
              </a:lnSpc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SAMUEL GARCÍA</a:t>
            </a:r>
          </a:p>
          <a:p>
            <a:pPr algn="ctr">
              <a:lnSpc>
                <a:spcPts val="4736"/>
              </a:lnSpc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SANTIAGO PUERTA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3588" y="5806884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90838" y="6190483"/>
            <a:ext cx="7060793" cy="6649983"/>
          </a:xfrm>
          <a:custGeom>
            <a:avLst/>
            <a:gdLst/>
            <a:ahLst/>
            <a:cxnLst/>
            <a:rect r="r" b="b" t="t" l="l"/>
            <a:pathLst>
              <a:path h="6649983" w="7060793">
                <a:moveTo>
                  <a:pt x="0" y="0"/>
                </a:moveTo>
                <a:lnTo>
                  <a:pt x="7060793" y="0"/>
                </a:lnTo>
                <a:lnTo>
                  <a:pt x="7060793" y="6649984"/>
                </a:lnTo>
                <a:lnTo>
                  <a:pt x="0" y="66499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664621" y="-75312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87691" y="2439216"/>
            <a:ext cx="8912618" cy="45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Herramientas Clave para la Construcción del Modelo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33206" y="895350"/>
            <a:ext cx="12021587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IMPORTACION DE LIBRERIAS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04517" y="3470722"/>
            <a:ext cx="14278965" cy="7316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TensorFlow ( import tensorflow as tf): Librería usada para crear y entrenar redes neuronales.</a:t>
            </a:r>
          </a:p>
          <a:p>
            <a:pPr algn="just">
              <a:lnSpc>
                <a:spcPts val="3621"/>
              </a:lnSpc>
            </a:pPr>
          </a:p>
          <a:p>
            <a:pPr algn="just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Pandas ( import pandas as pd): Usado para manejar y procesar conjuntos de datos en forma de tablas (DataFrames).</a:t>
            </a:r>
          </a:p>
          <a:p>
            <a:pPr algn="just">
              <a:lnSpc>
                <a:spcPts val="3621"/>
              </a:lnSpc>
            </a:pPr>
          </a:p>
          <a:p>
            <a:pPr algn="just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NumPy ( import numpy as np): Importado para operaciones numéricas eficientes.</a:t>
            </a:r>
          </a:p>
          <a:p>
            <a:pPr algn="just">
              <a:lnSpc>
                <a:spcPts val="3621"/>
              </a:lnSpc>
            </a:pPr>
          </a:p>
          <a:p>
            <a:pPr algn="just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Scikit-learn:</a:t>
            </a:r>
          </a:p>
          <a:p>
            <a:pPr algn="just">
              <a:lnSpc>
                <a:spcPts val="3621"/>
              </a:lnSpc>
            </a:pPr>
          </a:p>
          <a:p>
            <a:pPr algn="just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MinMaxScaler: Normaliza valores al rango$[0, 1]$, lo cual mejora el entrenamiento</a:t>
            </a: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3621"/>
              </a:lnSpc>
            </a:pPr>
          </a:p>
          <a:p>
            <a:pPr algn="just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train_test_split: Divide el conjunto de datos en conjuntos de entrenamiento y prueba</a:t>
            </a: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3621"/>
              </a:lnSpc>
            </a:pPr>
          </a:p>
          <a:p>
            <a:pPr algn="just">
              <a:lnSpc>
                <a:spcPts val="3621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92224" y="-373200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793098" y="0"/>
            <a:ext cx="4932403" cy="10808055"/>
          </a:xfrm>
          <a:custGeom>
            <a:avLst/>
            <a:gdLst/>
            <a:ahLst/>
            <a:cxnLst/>
            <a:rect r="r" b="b" t="t" l="l"/>
            <a:pathLst>
              <a:path h="10808055" w="4932403">
                <a:moveTo>
                  <a:pt x="4932404" y="0"/>
                </a:moveTo>
                <a:lnTo>
                  <a:pt x="0" y="0"/>
                </a:lnTo>
                <a:lnTo>
                  <a:pt x="0" y="10808055"/>
                </a:lnTo>
                <a:lnTo>
                  <a:pt x="4932404" y="10808055"/>
                </a:lnTo>
                <a:lnTo>
                  <a:pt x="4932404" y="0"/>
                </a:lnTo>
                <a:close/>
              </a:path>
            </a:pathLst>
          </a:custGeom>
          <a:blipFill>
            <a:blip r:embed="rId4"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17121" y="490027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61988" y="2439216"/>
            <a:ext cx="7764023" cy="45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Definición de Entradas (X) y Objetivo (y)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65922" y="895350"/>
            <a:ext cx="14356156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CARGA Y PREPARACION DE DATOS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0113" y="3248025"/>
            <a:ext cx="14907773" cy="6858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436" indent="-279218" lvl="1">
              <a:lnSpc>
                <a:spcPts val="3621"/>
              </a:lnSpc>
              <a:buAutoNum type="arabicPeriod" startAt="1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Carga del Dataset:</a:t>
            </a:r>
          </a:p>
          <a:p>
            <a:pPr algn="l" marL="1116871" indent="-372290" lvl="2">
              <a:lnSpc>
                <a:spcPts val="3621"/>
              </a:lnSpc>
              <a:buFont typeface="Arial"/>
              <a:buChar char="⚬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carga el archivodataset_sintetico.csv.</a:t>
            </a:r>
          </a:p>
          <a:p>
            <a:pPr algn="l">
              <a:lnSpc>
                <a:spcPts val="3621"/>
              </a:lnSpc>
            </a:pPr>
          </a:p>
          <a:p>
            <a:pPr algn="l" marL="558436" indent="-279218" lvl="1">
              <a:lnSpc>
                <a:spcPts val="3621"/>
              </a:lnSpc>
              <a:buAutoNum type="arabicPeriod" startAt="1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Selección de variables:</a:t>
            </a:r>
          </a:p>
          <a:p>
            <a:pPr algn="l" marL="1116871" indent="-372290" lvl="2">
              <a:lnSpc>
                <a:spcPts val="3621"/>
              </a:lnSpc>
              <a:buFont typeface="Arial"/>
              <a:buChar char="⚬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Características (X): (Entradas) ['Temperatura', 'Promocion', 'Fin_de_Semana'].</a:t>
            </a:r>
          </a:p>
          <a:p>
            <a:pPr algn="l">
              <a:lnSpc>
                <a:spcPts val="3621"/>
              </a:lnSpc>
            </a:pPr>
          </a:p>
          <a:p>
            <a:pPr algn="l" marL="1116871" indent="-372290" lvl="2">
              <a:lnSpc>
                <a:spcPts val="3621"/>
              </a:lnSpc>
              <a:buFont typeface="Arial"/>
              <a:buChar char="⚬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 (y): (Variable a predecir) ['Ventas'].</a:t>
            </a:r>
          </a:p>
          <a:p>
            <a:pPr algn="l">
              <a:lnSpc>
                <a:spcPts val="3621"/>
              </a:lnSpc>
            </a:pPr>
          </a:p>
          <a:p>
            <a:pPr algn="l" marL="558436" indent="-279218" lvl="1">
              <a:lnSpc>
                <a:spcPts val="3621"/>
              </a:lnSpc>
              <a:buAutoNum type="arabicPeriod" startAt="1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Normalización de Datos:</a:t>
            </a:r>
          </a:p>
          <a:p>
            <a:pPr algn="l" marL="1116871" indent="-372290" lvl="2">
              <a:lnSpc>
                <a:spcPts val="3621"/>
              </a:lnSpc>
              <a:buFont typeface="Arial"/>
              <a:buChar char="⚬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crean dos objetos MinMaxScaler: uno para X y otro para y.</a:t>
            </a:r>
          </a:p>
          <a:p>
            <a:pPr algn="l">
              <a:lnSpc>
                <a:spcPts val="3621"/>
              </a:lnSpc>
            </a:pPr>
          </a:p>
          <a:p>
            <a:pPr algn="l" marL="1116871" indent="-372290" lvl="2">
              <a:lnSpc>
                <a:spcPts val="3621"/>
              </a:lnSpc>
              <a:buFont typeface="Arial"/>
              <a:buChar char="⚬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X_scaled: Se ajusta y transforma X al rango [0,1].</a:t>
            </a:r>
          </a:p>
          <a:p>
            <a:pPr algn="l">
              <a:lnSpc>
                <a:spcPts val="3621"/>
              </a:lnSpc>
            </a:pPr>
          </a:p>
          <a:p>
            <a:pPr algn="l" marL="1116871" indent="-372290" lvl="2">
              <a:lnSpc>
                <a:spcPts val="3621"/>
              </a:lnSpc>
              <a:buFont typeface="Arial"/>
              <a:buChar char="⚬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y_scaled: Se transforma la serie 'Ventas' en matriz columna y se escala.</a:t>
            </a:r>
          </a:p>
          <a:p>
            <a:pPr algn="l">
              <a:lnSpc>
                <a:spcPts val="362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30674" y="6426980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21492" y="2439216"/>
            <a:ext cx="10445016" cy="45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Estructura de la Red Neuronal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29420" y="895350"/>
            <a:ext cx="12429161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DIVISION Y CONSTRUCCION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783217" y="-964573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78367" y="3342298"/>
            <a:ext cx="14731266" cy="640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División del Conjunto de Datos: </a:t>
            </a: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usa train_test_splitpara asignar el 80% a entrenamiento y el 20% a prueba ( test_size=0.2).</a:t>
            </a:r>
          </a:p>
          <a:p>
            <a:pPr algn="l">
              <a:lnSpc>
                <a:spcPts val="3621"/>
              </a:lnSpc>
            </a:pP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</a:t>
            </a: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strucción de la Red Neuronal (Paso 7): Se crea un modelo secuencial ( tf.keras.Sequential).</a:t>
            </a:r>
          </a:p>
          <a:p>
            <a:pPr algn="l">
              <a:lnSpc>
                <a:spcPts val="3621"/>
              </a:lnSpc>
            </a:pP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Capa de Entrada: 100 neuronas, activación ReLU , recibe 3 variables de entrada ( input_shape=(3,)).</a:t>
            </a:r>
          </a:p>
          <a:p>
            <a:pPr algn="l">
              <a:lnSpc>
                <a:spcPts val="3621"/>
              </a:lnSpc>
            </a:pP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Capas Ocultas: Dos capas adicionales de 100 neuronas con activación ReLU cada una.</a:t>
            </a:r>
          </a:p>
          <a:p>
            <a:pPr algn="l">
              <a:lnSpc>
                <a:spcPts val="3621"/>
              </a:lnSpc>
            </a:pP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Capa de Salida: 1 neurona, activación lineal (típico para regresión).</a:t>
            </a:r>
          </a:p>
          <a:p>
            <a:pPr algn="l">
              <a:lnSpc>
                <a:spcPts val="3621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31070" y="657225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7" y="0"/>
                </a:lnTo>
                <a:lnTo>
                  <a:pt x="460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21492" y="2647950"/>
            <a:ext cx="10445016" cy="45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Ajuste y Aprendizaje del Modelo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02746" y="1104084"/>
            <a:ext cx="14482509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COMPILACION Y ENTRENAMIENTO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5156062" y="5658901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7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7" y="4114800"/>
                </a:lnTo>
                <a:lnTo>
                  <a:pt x="4609247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02746" y="4228123"/>
            <a:ext cx="14482509" cy="5030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Compilación: </a:t>
            </a: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optimizer='adam'. </a:t>
            </a: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Ajusta los pesos del modelo.</a:t>
            </a:r>
          </a:p>
          <a:p>
            <a:pPr algn="just">
              <a:lnSpc>
                <a:spcPts val="3621"/>
              </a:lnSpc>
            </a:pPr>
          </a:p>
          <a:p>
            <a:pPr algn="just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Función de Pérdida: loss='mean_squared_error'(MSE). Mide el error del modelo para problemas de regresión.</a:t>
            </a:r>
          </a:p>
          <a:p>
            <a:pPr algn="just">
              <a:lnSpc>
                <a:spcPts val="3621"/>
              </a:lnSpc>
            </a:pPr>
          </a:p>
          <a:p>
            <a:pPr algn="just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Entrenamiento: epochs=100. El modelo ve los datos 100 veces</a:t>
            </a:r>
          </a:p>
          <a:p>
            <a:pPr algn="just">
              <a:lnSpc>
                <a:spcPts val="3621"/>
              </a:lnSpc>
            </a:pPr>
          </a:p>
          <a:p>
            <a:pPr algn="just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Tamaño de Lote: batch_size=32. El entrenamiento usa lotes de 32 muestras..</a:t>
            </a:r>
          </a:p>
          <a:p>
            <a:pPr algn="just">
              <a:lnSpc>
                <a:spcPts val="3621"/>
              </a:lnSpc>
            </a:pPr>
          </a:p>
          <a:p>
            <a:pPr algn="just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Validación: validation_split=0.2. El 20% del entrenamiento se usa para validar el progreso.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17382" y="6364711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057650" y="-347206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057650" y="2273576"/>
            <a:ext cx="11635266" cy="10662135"/>
          </a:xfrm>
          <a:custGeom>
            <a:avLst/>
            <a:gdLst/>
            <a:ahLst/>
            <a:cxnLst/>
            <a:rect r="r" b="b" t="t" l="l"/>
            <a:pathLst>
              <a:path h="10662135" w="11635266">
                <a:moveTo>
                  <a:pt x="11635266" y="0"/>
                </a:moveTo>
                <a:lnTo>
                  <a:pt x="0" y="0"/>
                </a:lnTo>
                <a:lnTo>
                  <a:pt x="0" y="10662135"/>
                </a:lnTo>
                <a:lnTo>
                  <a:pt x="11635266" y="10662135"/>
                </a:lnTo>
                <a:lnTo>
                  <a:pt x="11635266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18477" y="2410641"/>
            <a:ext cx="10251047" cy="60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9"/>
              </a:lnSpc>
            </a:pPr>
            <a:r>
              <a:rPr lang="en-US" sz="332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Disponibilidad para evaluación y predicción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2746" y="895350"/>
            <a:ext cx="14482509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COMPILACION Y ENTRENAMIENTO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89627" y="3545647"/>
            <a:ext cx="14708747" cy="6401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9180" indent="-279590" lvl="1">
              <a:lnSpc>
                <a:spcPts val="3625"/>
              </a:lnSpc>
              <a:buFont typeface="Arial"/>
              <a:buChar char="•"/>
            </a:pPr>
            <a:r>
              <a:rPr lang="en-US" sz="258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Retorno de Valores: La función devuelve seis elementos esenciales:</a:t>
            </a:r>
          </a:p>
          <a:p>
            <a:pPr algn="l">
              <a:lnSpc>
                <a:spcPts val="3625"/>
              </a:lnSpc>
            </a:pPr>
          </a:p>
          <a:p>
            <a:pPr algn="l" marL="559180" indent="-279590" lvl="1">
              <a:lnSpc>
                <a:spcPts val="3625"/>
              </a:lnSpc>
              <a:buFont typeface="Arial"/>
              <a:buChar char="•"/>
            </a:pPr>
            <a:r>
              <a:rPr lang="en-US" sz="258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model: El modelo neuronal entrenado.</a:t>
            </a:r>
          </a:p>
          <a:p>
            <a:pPr algn="l">
              <a:lnSpc>
                <a:spcPts val="3625"/>
              </a:lnSpc>
            </a:pPr>
          </a:p>
          <a:p>
            <a:pPr algn="l" marL="559180" indent="-279590" lvl="1">
              <a:lnSpc>
                <a:spcPts val="3625"/>
              </a:lnSpc>
              <a:buFont typeface="Arial"/>
              <a:buChar char="•"/>
            </a:pPr>
            <a:r>
              <a:rPr lang="en-US" sz="258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history: El registro de la evolución del entrenamiento.</a:t>
            </a:r>
          </a:p>
          <a:p>
            <a:pPr algn="l">
              <a:lnSpc>
                <a:spcPts val="3625"/>
              </a:lnSpc>
            </a:pPr>
          </a:p>
          <a:p>
            <a:pPr algn="l" marL="559180" indent="-279590" lvl="1">
              <a:lnSpc>
                <a:spcPts val="3625"/>
              </a:lnSpc>
              <a:buFont typeface="Arial"/>
              <a:buChar char="•"/>
            </a:pPr>
            <a:r>
              <a:rPr lang="en-US" sz="258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scaler_x,scaler_y : Los objetos para desnormalizar las predicciones y entradas futuras.</a:t>
            </a:r>
          </a:p>
          <a:p>
            <a:pPr algn="l">
              <a:lnSpc>
                <a:spcPts val="3625"/>
              </a:lnSpc>
            </a:pPr>
          </a:p>
          <a:p>
            <a:pPr algn="l" marL="559180" indent="-279590" lvl="1">
              <a:lnSpc>
                <a:spcPts val="3625"/>
              </a:lnSpc>
              <a:buFont typeface="Arial"/>
              <a:buChar char="•"/>
            </a:pPr>
            <a:r>
              <a:rPr lang="en-US" sz="258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X_test,y_test : Los datos de prueba para evaluar el rendimiento.</a:t>
            </a:r>
          </a:p>
          <a:p>
            <a:pPr algn="l">
              <a:lnSpc>
                <a:spcPts val="3625"/>
              </a:lnSpc>
            </a:pPr>
          </a:p>
          <a:p>
            <a:pPr algn="l" marL="559180" indent="-279590" lvl="1">
              <a:lnSpc>
                <a:spcPts val="3625"/>
              </a:lnSpc>
              <a:buFont typeface="Arial"/>
              <a:buChar char="•"/>
            </a:pPr>
            <a:r>
              <a:rPr lang="en-US" sz="258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Ejecución: Se llama a la función para ejecutar el proceso y capturar todos los resultados..</a:t>
            </a:r>
          </a:p>
          <a:p>
            <a:pPr algn="l">
              <a:lnSpc>
                <a:spcPts val="362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501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78375">
            <a:off x="8323700" y="-4291982"/>
            <a:ext cx="15959856" cy="8583964"/>
          </a:xfrm>
          <a:custGeom>
            <a:avLst/>
            <a:gdLst/>
            <a:ahLst/>
            <a:cxnLst/>
            <a:rect r="r" b="b" t="t" l="l"/>
            <a:pathLst>
              <a:path h="8583964" w="15959856">
                <a:moveTo>
                  <a:pt x="0" y="0"/>
                </a:moveTo>
                <a:lnTo>
                  <a:pt x="15959857" y="0"/>
                </a:lnTo>
                <a:lnTo>
                  <a:pt x="15959857" y="8583964"/>
                </a:lnTo>
                <a:lnTo>
                  <a:pt x="0" y="8583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66517">
            <a:off x="-1768901" y="4979430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2186" y="313550"/>
            <a:ext cx="16303628" cy="9659900"/>
          </a:xfrm>
          <a:custGeom>
            <a:avLst/>
            <a:gdLst/>
            <a:ahLst/>
            <a:cxnLst/>
            <a:rect r="r" b="b" t="t" l="l"/>
            <a:pathLst>
              <a:path h="9659900" w="16303628">
                <a:moveTo>
                  <a:pt x="0" y="0"/>
                </a:moveTo>
                <a:lnTo>
                  <a:pt x="16303628" y="0"/>
                </a:lnTo>
                <a:lnTo>
                  <a:pt x="16303628" y="9659900"/>
                </a:lnTo>
                <a:lnTo>
                  <a:pt x="0" y="96599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501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78375">
            <a:off x="8323700" y="-4291982"/>
            <a:ext cx="15959856" cy="8583964"/>
          </a:xfrm>
          <a:custGeom>
            <a:avLst/>
            <a:gdLst/>
            <a:ahLst/>
            <a:cxnLst/>
            <a:rect r="r" b="b" t="t" l="l"/>
            <a:pathLst>
              <a:path h="8583964" w="15959856">
                <a:moveTo>
                  <a:pt x="0" y="0"/>
                </a:moveTo>
                <a:lnTo>
                  <a:pt x="15959857" y="0"/>
                </a:lnTo>
                <a:lnTo>
                  <a:pt x="15959857" y="8583964"/>
                </a:lnTo>
                <a:lnTo>
                  <a:pt x="0" y="8583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66517">
            <a:off x="-1768901" y="4979430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4424" y="424474"/>
            <a:ext cx="16999152" cy="9438051"/>
          </a:xfrm>
          <a:custGeom>
            <a:avLst/>
            <a:gdLst/>
            <a:ahLst/>
            <a:cxnLst/>
            <a:rect r="r" b="b" t="t" l="l"/>
            <a:pathLst>
              <a:path h="9438051" w="16999152">
                <a:moveTo>
                  <a:pt x="0" y="0"/>
                </a:moveTo>
                <a:lnTo>
                  <a:pt x="16999152" y="0"/>
                </a:lnTo>
                <a:lnTo>
                  <a:pt x="16999152" y="9438052"/>
                </a:lnTo>
                <a:lnTo>
                  <a:pt x="0" y="94380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235" t="0" r="-3771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501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78375">
            <a:off x="8323700" y="-4291982"/>
            <a:ext cx="15959856" cy="8583964"/>
          </a:xfrm>
          <a:custGeom>
            <a:avLst/>
            <a:gdLst/>
            <a:ahLst/>
            <a:cxnLst/>
            <a:rect r="r" b="b" t="t" l="l"/>
            <a:pathLst>
              <a:path h="8583964" w="15959856">
                <a:moveTo>
                  <a:pt x="0" y="0"/>
                </a:moveTo>
                <a:lnTo>
                  <a:pt x="15959857" y="0"/>
                </a:lnTo>
                <a:lnTo>
                  <a:pt x="15959857" y="8583964"/>
                </a:lnTo>
                <a:lnTo>
                  <a:pt x="0" y="8583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66517">
            <a:off x="-1768901" y="4979430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94929" y="4505763"/>
            <a:ext cx="15698143" cy="1275474"/>
          </a:xfrm>
          <a:custGeom>
            <a:avLst/>
            <a:gdLst/>
            <a:ahLst/>
            <a:cxnLst/>
            <a:rect r="r" b="b" t="t" l="l"/>
            <a:pathLst>
              <a:path h="1275474" w="15698143">
                <a:moveTo>
                  <a:pt x="0" y="0"/>
                </a:moveTo>
                <a:lnTo>
                  <a:pt x="15698142" y="0"/>
                </a:lnTo>
                <a:lnTo>
                  <a:pt x="15698142" y="1275474"/>
                </a:lnTo>
                <a:lnTo>
                  <a:pt x="0" y="12754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501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78375">
            <a:off x="8323700" y="-4291982"/>
            <a:ext cx="15959856" cy="8583964"/>
          </a:xfrm>
          <a:custGeom>
            <a:avLst/>
            <a:gdLst/>
            <a:ahLst/>
            <a:cxnLst/>
            <a:rect r="r" b="b" t="t" l="l"/>
            <a:pathLst>
              <a:path h="8583964" w="15959856">
                <a:moveTo>
                  <a:pt x="0" y="0"/>
                </a:moveTo>
                <a:lnTo>
                  <a:pt x="15959857" y="0"/>
                </a:lnTo>
                <a:lnTo>
                  <a:pt x="15959857" y="8583964"/>
                </a:lnTo>
                <a:lnTo>
                  <a:pt x="0" y="8583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84372" y="3726507"/>
            <a:ext cx="14319257" cy="254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51"/>
              </a:lnSpc>
            </a:pPr>
            <a:r>
              <a:rPr lang="en-US" sz="1489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GRACIAS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366517">
            <a:off x="-1768901" y="4979430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DAG6Up4q4yQ</dc:identifier>
  <dcterms:modified xsi:type="dcterms:W3CDTF">2011-08-01T06:04:30Z</dcterms:modified>
  <cp:revision>1</cp:revision>
  <dc:title>Modelo Multiple</dc:title>
</cp:coreProperties>
</file>