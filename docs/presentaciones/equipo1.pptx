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753600" cy="7315200"/>
  <p:notesSz cx="6858000" cy="9144000"/>
  <p:embeddedFontLst>
    <p:embeddedFont>
      <p:font typeface="Calibri (MS)" panose="020B0604020202020204" charset="0"/>
      <p:regular r:id="rId9"/>
    </p:embeddedFont>
    <p:embeddedFont>
      <p:font typeface="Ebrima" panose="02000000000000000000" pitchFamily="2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8" d="100"/>
          <a:sy n="98" d="100"/>
        </p:scale>
        <p:origin x="178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41" y="6827520"/>
            <a:ext cx="9751060" cy="487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8" name="Rectangle 7"/>
          <p:cNvSpPr/>
          <p:nvPr/>
        </p:nvSpPr>
        <p:spPr>
          <a:xfrm>
            <a:off x="13" y="6756604"/>
            <a:ext cx="9751060" cy="68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7824" y="809549"/>
            <a:ext cx="8046720" cy="3803904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534" spc="-53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0041" y="4752662"/>
            <a:ext cx="8046720" cy="12192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560" cap="all" spc="213" baseline="0">
                <a:solidFill>
                  <a:schemeClr val="tx2"/>
                </a:solidFill>
                <a:latin typeface="+mj-lt"/>
              </a:defRPr>
            </a:lvl1pPr>
            <a:lvl2pPr marL="487695" indent="0" algn="ctr">
              <a:buNone/>
              <a:defRPr sz="2560"/>
            </a:lvl2pPr>
            <a:lvl3pPr marL="975390" indent="0" algn="ctr">
              <a:buNone/>
              <a:defRPr sz="2560"/>
            </a:lvl3pPr>
            <a:lvl4pPr marL="1463086" indent="0" algn="ctr">
              <a:buNone/>
              <a:defRPr sz="2133"/>
            </a:lvl4pPr>
            <a:lvl5pPr marL="1950781" indent="0" algn="ctr">
              <a:buNone/>
              <a:defRPr sz="2133"/>
            </a:lvl5pPr>
            <a:lvl6pPr marL="2438476" indent="0" algn="ctr">
              <a:buNone/>
              <a:defRPr sz="2133"/>
            </a:lvl6pPr>
            <a:lvl7pPr marL="2926171" indent="0" algn="ctr">
              <a:buNone/>
              <a:defRPr sz="2133"/>
            </a:lvl7pPr>
            <a:lvl8pPr marL="3413867" indent="0" algn="ctr">
              <a:buNone/>
              <a:defRPr sz="2133"/>
            </a:lvl8pPr>
            <a:lvl9pPr marL="3901562" indent="0" algn="ctr"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66127" y="4632960"/>
            <a:ext cx="790041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97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41" y="6827520"/>
            <a:ext cx="9751060" cy="487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8" name="Rectangle 7"/>
          <p:cNvSpPr/>
          <p:nvPr/>
        </p:nvSpPr>
        <p:spPr>
          <a:xfrm>
            <a:off x="13" y="6756604"/>
            <a:ext cx="9751060" cy="68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824" y="809549"/>
            <a:ext cx="8046720" cy="3803904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534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7824" y="4750003"/>
            <a:ext cx="8046720" cy="12192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560" cap="all" spc="213" baseline="0">
                <a:solidFill>
                  <a:schemeClr val="tx2"/>
                </a:solidFill>
                <a:latin typeface="+mj-lt"/>
              </a:defRPr>
            </a:lvl1pPr>
            <a:lvl2pPr marL="487695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66127" y="4632960"/>
            <a:ext cx="790041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21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7824" y="305712"/>
            <a:ext cx="8046720" cy="15474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7824" y="1968783"/>
            <a:ext cx="3950208" cy="42915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4336" y="1968786"/>
            <a:ext cx="3950208" cy="42915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4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77824" y="305712"/>
            <a:ext cx="8046720" cy="15474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7824" y="1969122"/>
            <a:ext cx="3950208" cy="785367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133" b="0" cap="all" baseline="0">
                <a:solidFill>
                  <a:schemeClr val="tx2"/>
                </a:solidFill>
              </a:defRPr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824" y="2754490"/>
            <a:ext cx="3950208" cy="350587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4336" y="1969122"/>
            <a:ext cx="3950208" cy="785367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133" b="0" cap="all" baseline="0">
                <a:solidFill>
                  <a:schemeClr val="tx2"/>
                </a:solidFill>
              </a:defRPr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4336" y="2754490"/>
            <a:ext cx="3950208" cy="350587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10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41" y="6827520"/>
            <a:ext cx="9751060" cy="487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6" name="Rectangle 5"/>
          <p:cNvSpPr/>
          <p:nvPr/>
        </p:nvSpPr>
        <p:spPr>
          <a:xfrm>
            <a:off x="13" y="6756604"/>
            <a:ext cx="9751060" cy="68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08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240633" cy="73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3232057" y="0"/>
            <a:ext cx="51206" cy="731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633983"/>
            <a:ext cx="2560320" cy="2438400"/>
          </a:xfrm>
        </p:spPr>
        <p:txBody>
          <a:bodyPr anchor="b">
            <a:normAutofit/>
          </a:bodyPr>
          <a:lstStyle>
            <a:lvl1pPr>
              <a:defRPr sz="384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0920" y="780288"/>
            <a:ext cx="5343353" cy="56083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" y="3121152"/>
            <a:ext cx="2560320" cy="360439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600">
                <a:solidFill>
                  <a:srgbClr val="FFFFFF"/>
                </a:solidFill>
              </a:defRPr>
            </a:lvl1pPr>
            <a:lvl2pPr marL="487695" indent="0">
              <a:buNone/>
              <a:defRPr sz="1280"/>
            </a:lvl2pPr>
            <a:lvl3pPr marL="975390" indent="0">
              <a:buNone/>
              <a:defRPr sz="1067"/>
            </a:lvl3pPr>
            <a:lvl4pPr marL="1463086" indent="0">
              <a:buNone/>
              <a:defRPr sz="960"/>
            </a:lvl4pPr>
            <a:lvl5pPr marL="1950781" indent="0">
              <a:buNone/>
              <a:defRPr sz="960"/>
            </a:lvl5pPr>
            <a:lvl6pPr marL="2438476" indent="0">
              <a:buNone/>
              <a:defRPr sz="960"/>
            </a:lvl6pPr>
            <a:lvl7pPr marL="2926171" indent="0">
              <a:buNone/>
              <a:defRPr sz="960"/>
            </a:lvl7pPr>
            <a:lvl8pPr marL="3413867" indent="0">
              <a:buNone/>
              <a:defRPr sz="960"/>
            </a:lvl8pPr>
            <a:lvl9pPr marL="3901562" indent="0">
              <a:buNone/>
              <a:defRPr sz="96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2410" y="6890439"/>
            <a:ext cx="2094809" cy="389467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40480" y="6890439"/>
            <a:ext cx="3718560" cy="389467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86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283200"/>
            <a:ext cx="9751060" cy="20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13" y="5242748"/>
            <a:ext cx="9751060" cy="68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824" y="5413248"/>
            <a:ext cx="8095488" cy="877824"/>
          </a:xfrm>
        </p:spPr>
        <p:txBody>
          <a:bodyPr tIns="0" bIns="0" anchor="b">
            <a:noAutofit/>
          </a:bodyPr>
          <a:lstStyle>
            <a:lvl1pPr>
              <a:defRPr sz="384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753588" cy="5242748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413">
                <a:solidFill>
                  <a:schemeClr val="bg1"/>
                </a:solidFill>
              </a:defRPr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23" y="6300826"/>
            <a:ext cx="8095488" cy="633984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40"/>
              </a:spcAft>
              <a:buNone/>
              <a:defRPr sz="1600">
                <a:solidFill>
                  <a:srgbClr val="FFFFFF"/>
                </a:solidFill>
              </a:defRPr>
            </a:lvl1pPr>
            <a:lvl2pPr marL="487695" indent="0">
              <a:buNone/>
              <a:defRPr sz="1280"/>
            </a:lvl2pPr>
            <a:lvl3pPr marL="975390" indent="0">
              <a:buNone/>
              <a:defRPr sz="1067"/>
            </a:lvl3pPr>
            <a:lvl4pPr marL="1463086" indent="0">
              <a:buNone/>
              <a:defRPr sz="960"/>
            </a:lvl4pPr>
            <a:lvl5pPr marL="1950781" indent="0">
              <a:buNone/>
              <a:defRPr sz="960"/>
            </a:lvl5pPr>
            <a:lvl6pPr marL="2438476" indent="0">
              <a:buNone/>
              <a:defRPr sz="960"/>
            </a:lvl6pPr>
            <a:lvl7pPr marL="2926171" indent="0">
              <a:buNone/>
              <a:defRPr sz="960"/>
            </a:lvl7pPr>
            <a:lvl8pPr marL="3413867" indent="0">
              <a:buNone/>
              <a:defRPr sz="960"/>
            </a:lvl8pPr>
            <a:lvl9pPr marL="3901562" indent="0">
              <a:buNone/>
              <a:defRPr sz="96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0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41" y="6827520"/>
            <a:ext cx="9751060" cy="487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8" name="Rectangle 7"/>
          <p:cNvSpPr/>
          <p:nvPr/>
        </p:nvSpPr>
        <p:spPr>
          <a:xfrm>
            <a:off x="13" y="6756604"/>
            <a:ext cx="9751060" cy="68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1" y="442432"/>
            <a:ext cx="2103120" cy="614124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1" y="442431"/>
            <a:ext cx="6187440" cy="614124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5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827520"/>
            <a:ext cx="9753601" cy="487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1" y="6756603"/>
            <a:ext cx="9753601" cy="703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7824" y="305712"/>
            <a:ext cx="8046720" cy="1547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7823" y="1968783"/>
            <a:ext cx="8046721" cy="429158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7825" y="6890439"/>
            <a:ext cx="1977817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48949" y="6890439"/>
            <a:ext cx="3858243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0368" y="6890439"/>
            <a:ext cx="10496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954826" y="1853701"/>
            <a:ext cx="79735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49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5390" rtl="0" eaLnBrk="1" latinLnBrk="0" hangingPunct="1">
        <a:lnSpc>
          <a:spcPct val="85000"/>
        </a:lnSpc>
        <a:spcBef>
          <a:spcPct val="0"/>
        </a:spcBef>
        <a:buNone/>
        <a:defRPr sz="5120" kern="1200" spc="-53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7539" indent="-97539" algn="l" defTabSz="975390" rtl="0" eaLnBrk="1" latinLnBrk="0" hangingPunct="1">
        <a:lnSpc>
          <a:spcPct val="90000"/>
        </a:lnSpc>
        <a:spcBef>
          <a:spcPts val="1280"/>
        </a:spcBef>
        <a:spcAft>
          <a:spcPts val="213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13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9664" indent="-195078" algn="l" defTabSz="975390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Font typeface="Calibri" pitchFamily="34" charset="0"/>
        <a:buChar char="◦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4742" indent="-195078" algn="l" defTabSz="975390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Font typeface="Calibri" pitchFamily="34" charset="0"/>
        <a:buChar char="◦"/>
        <a:defRPr sz="14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99820" indent="-195078" algn="l" defTabSz="975390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Font typeface="Calibri" pitchFamily="34" charset="0"/>
        <a:buChar char="◦"/>
        <a:defRPr sz="14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94898" indent="-195078" algn="l" defTabSz="975390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Font typeface="Calibri" pitchFamily="34" charset="0"/>
        <a:buChar char="◦"/>
        <a:defRPr sz="14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73370" indent="-243848" algn="l" defTabSz="975390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Font typeface="Calibri" pitchFamily="34" charset="0"/>
        <a:buChar char="◦"/>
        <a:defRPr sz="14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86710" indent="-243848" algn="l" defTabSz="975390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Font typeface="Calibri" pitchFamily="34" charset="0"/>
        <a:buChar char="◦"/>
        <a:defRPr sz="14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050" indent="-243848" algn="l" defTabSz="975390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Font typeface="Calibri" pitchFamily="34" charset="0"/>
        <a:buChar char="◦"/>
        <a:defRPr sz="14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13390" indent="-243848" algn="l" defTabSz="975390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Font typeface="Calibri" pitchFamily="34" charset="0"/>
        <a:buChar char="◦"/>
        <a:defRPr sz="14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6656" y="381000"/>
            <a:ext cx="8295424" cy="3459480"/>
            <a:chOff x="-6485" y="-2521937"/>
            <a:chExt cx="11060565" cy="46126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54080" cy="2090702"/>
            </a:xfrm>
            <a:custGeom>
              <a:avLst/>
              <a:gdLst/>
              <a:ahLst/>
              <a:cxnLst/>
              <a:rect l="l" t="t" r="r" b="b"/>
              <a:pathLst>
                <a:path w="11054080" h="2090702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6485" y="-2521937"/>
              <a:ext cx="11054080" cy="21859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 dirty="0">
                  <a:solidFill>
                    <a:srgbClr val="000000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  <a:sym typeface="Calibri (MS)"/>
                </a:rPr>
                <a:t>Análisis de Dataset Sintético</a:t>
              </a: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35CCC638-5740-3100-9597-30EE363D1B9F}"/>
              </a:ext>
            </a:extLst>
          </p:cNvPr>
          <p:cNvSpPr txBox="1"/>
          <p:nvPr/>
        </p:nvSpPr>
        <p:spPr>
          <a:xfrm>
            <a:off x="2432726" y="2103328"/>
            <a:ext cx="48784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SALOMÉ CADAVID MUÑOZ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SEBASTIAN FORY OSORIO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JUAN CAMILO OVIEDO</a:t>
            </a:r>
          </a:p>
          <a:p>
            <a:pPr algn="ctr">
              <a:lnSpc>
                <a:spcPct val="150000"/>
              </a:lnSpc>
            </a:pPr>
            <a:endParaRPr lang="en-US" sz="2800" dirty="0">
              <a:solidFill>
                <a:srgbClr val="000000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  <a:sym typeface="Calibri (MS)"/>
            </a:endParaRPr>
          </a:p>
          <a:p>
            <a:pPr algn="ctr"/>
            <a:r>
              <a:rPr lang="en-US" sz="2800" b="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FICHA: </a:t>
            </a:r>
            <a:r>
              <a:rPr lang="en-US" sz="2800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3145737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47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 dirty="0">
                  <a:solidFill>
                    <a:srgbClr val="000000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  <a:sym typeface="Calibri (MS)"/>
                </a:rPr>
                <a:t>Descripción del Dataset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981200"/>
            <a:ext cx="8595360" cy="366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• 50 registros generados sintéticamente</a:t>
            </a:r>
          </a:p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• Variables:</a:t>
            </a:r>
          </a:p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   - Temperatura</a:t>
            </a:r>
          </a:p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   - Promoción</a:t>
            </a:r>
          </a:p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   - Fin de Semana</a:t>
            </a:r>
          </a:p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   - Ventas</a:t>
            </a:r>
          </a:p>
          <a:p>
            <a:pPr marL="439273" lvl="1" indent="-219637" algn="l">
              <a:lnSpc>
                <a:spcPts val="4095"/>
              </a:lnSpc>
            </a:pPr>
            <a:endParaRPr lang="en-US" sz="3413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47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 dirty="0">
                  <a:solidFill>
                    <a:srgbClr val="000000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  <a:sym typeface="Calibri (MS)"/>
                </a:rPr>
                <a:t>Relación Temperatura - Ventas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588424" y="1583584"/>
            <a:ext cx="6576751" cy="4746594"/>
          </a:xfrm>
          <a:custGeom>
            <a:avLst/>
            <a:gdLst/>
            <a:ahLst/>
            <a:cxnLst/>
            <a:rect l="l" t="t" r="r" b="b"/>
            <a:pathLst>
              <a:path w="7667103" h="5649068">
                <a:moveTo>
                  <a:pt x="0" y="0"/>
                </a:moveTo>
                <a:lnTo>
                  <a:pt x="7667102" y="0"/>
                </a:lnTo>
                <a:lnTo>
                  <a:pt x="7667102" y="5649068"/>
                </a:lnTo>
                <a:lnTo>
                  <a:pt x="0" y="5649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" t="-2029" r="-1052"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47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 dirty="0">
                  <a:solidFill>
                    <a:srgbClr val="000000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  <a:sym typeface="Calibri (MS)"/>
                </a:rPr>
                <a:t>Relación Promoción - Ventas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75360" y="1683283"/>
            <a:ext cx="7802880" cy="4681728"/>
            <a:chOff x="0" y="0"/>
            <a:chExt cx="10403840" cy="6242304"/>
          </a:xfrm>
        </p:grpSpPr>
        <p:sp>
          <p:nvSpPr>
            <p:cNvPr id="6" name="Freeform 6" descr="scatter_prom_ventas.png"/>
            <p:cNvSpPr/>
            <p:nvPr/>
          </p:nvSpPr>
          <p:spPr>
            <a:xfrm>
              <a:off x="0" y="0"/>
              <a:ext cx="10403840" cy="6242304"/>
            </a:xfrm>
            <a:custGeom>
              <a:avLst/>
              <a:gdLst/>
              <a:ahLst/>
              <a:cxnLst/>
              <a:rect l="l" t="t" r="r" b="b"/>
              <a:pathLst>
                <a:path w="10403840" h="6242304">
                  <a:moveTo>
                    <a:pt x="0" y="0"/>
                  </a:moveTo>
                  <a:lnTo>
                    <a:pt x="10403840" y="0"/>
                  </a:lnTo>
                  <a:lnTo>
                    <a:pt x="10403840" y="6242304"/>
                  </a:lnTo>
                  <a:lnTo>
                    <a:pt x="0" y="624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47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 dirty="0">
                  <a:solidFill>
                    <a:srgbClr val="000000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  <a:sym typeface="Calibri (MS)"/>
                </a:rPr>
                <a:t>Relación Fin de Semana - Ventas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75360" y="1722612"/>
            <a:ext cx="7802880" cy="4681728"/>
            <a:chOff x="0" y="0"/>
            <a:chExt cx="10403840" cy="6242304"/>
          </a:xfrm>
        </p:grpSpPr>
        <p:sp>
          <p:nvSpPr>
            <p:cNvPr id="6" name="Freeform 6" descr="scatter_weekend_ventas.png"/>
            <p:cNvSpPr/>
            <p:nvPr/>
          </p:nvSpPr>
          <p:spPr>
            <a:xfrm>
              <a:off x="0" y="0"/>
              <a:ext cx="10403840" cy="6242304"/>
            </a:xfrm>
            <a:custGeom>
              <a:avLst/>
              <a:gdLst/>
              <a:ahLst/>
              <a:cxnLst/>
              <a:rect l="l" t="t" r="r" b="b"/>
              <a:pathLst>
                <a:path w="10403840" h="6242304">
                  <a:moveTo>
                    <a:pt x="0" y="0"/>
                  </a:moveTo>
                  <a:lnTo>
                    <a:pt x="10403840" y="0"/>
                  </a:lnTo>
                  <a:lnTo>
                    <a:pt x="10403840" y="6242304"/>
                  </a:lnTo>
                  <a:lnTo>
                    <a:pt x="0" y="624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87680" y="-76200"/>
            <a:ext cx="8778240" cy="129063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631"/>
              </a:lnSpc>
            </a:pPr>
            <a:r>
              <a:rPr lang="en-US" sz="4693" b="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Mapa de Correlaciones</a:t>
            </a:r>
          </a:p>
        </p:txBody>
      </p:sp>
      <p:sp>
        <p:nvSpPr>
          <p:cNvPr id="5" name="Freeform 5"/>
          <p:cNvSpPr/>
          <p:nvPr/>
        </p:nvSpPr>
        <p:spPr>
          <a:xfrm>
            <a:off x="1423869" y="1143000"/>
            <a:ext cx="6905861" cy="5452876"/>
          </a:xfrm>
          <a:custGeom>
            <a:avLst/>
            <a:gdLst/>
            <a:ahLst/>
            <a:cxnLst/>
            <a:rect l="l" t="t" r="r" b="b"/>
            <a:pathLst>
              <a:path w="7410922" h="5821913">
                <a:moveTo>
                  <a:pt x="0" y="0"/>
                </a:moveTo>
                <a:lnTo>
                  <a:pt x="7410922" y="0"/>
                </a:lnTo>
                <a:lnTo>
                  <a:pt x="7410922" y="5821913"/>
                </a:lnTo>
                <a:lnTo>
                  <a:pt x="0" y="582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47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 dirty="0">
                  <a:solidFill>
                    <a:srgbClr val="000000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  <a:sym typeface="Calibri (MS)"/>
                </a:rPr>
                <a:t>Conclusiones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685925"/>
            <a:ext cx="8595360" cy="417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• La temperatura es la variable con mayor influencia en las ventas.</a:t>
            </a:r>
          </a:p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• Promoción y fin de semana también muestran impacto positivo.</a:t>
            </a:r>
          </a:p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• El heatmap confirma correlaciones positivas fuertes.</a:t>
            </a:r>
          </a:p>
          <a:p>
            <a:pPr marL="219636" lvl="1"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sym typeface="Calibri (MS)"/>
              </a:rPr>
              <a:t>• No se observan valores atípicos significativos.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</TotalTime>
  <Words>99</Words>
  <Application>Microsoft Office PowerPoint</Application>
  <PresentationFormat>Personalizado</PresentationFormat>
  <Paragraphs>22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Ebrima</vt:lpstr>
      <vt:lpstr>Calibri (MS)</vt:lpstr>
      <vt:lpstr>Calibri</vt:lpstr>
      <vt:lpstr>Calibri Light</vt:lpstr>
      <vt:lpstr>Retrospección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equipo1</dc:title>
  <dc:creator>ADSO</dc:creator>
  <cp:lastModifiedBy>8B_92051011460</cp:lastModifiedBy>
  <cp:revision>2</cp:revision>
  <dcterms:created xsi:type="dcterms:W3CDTF">2006-08-16T00:00:00Z</dcterms:created>
  <dcterms:modified xsi:type="dcterms:W3CDTF">2025-12-03T17:58:39Z</dcterms:modified>
  <dc:identifier>DAG6JSUrehY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2025-12-03T17:50:34Z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743327f8-ef39-48fc-8b60-66c90a15fbff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