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 Jour Serif" charset="1" panose="02000500000000000000"/>
      <p:regular r:id="rId14"/>
    </p:embeddedFont>
    <p:embeddedFont>
      <p:font typeface="Alta" charset="1" panose="02000503000000000000"/>
      <p:regular r:id="rId15"/>
    </p:embeddedFont>
    <p:embeddedFont>
      <p:font typeface="Open Sans Bold" charset="1" panose="020B0806030504020204"/>
      <p:regular r:id="rId16"/>
    </p:embeddedFont>
    <p:embeddedFont>
      <p:font typeface="Now" charset="1" panose="00000500000000000000"/>
      <p:regular r:id="rId17"/>
    </p:embeddedFont>
    <p:embeddedFont>
      <p:font typeface="Now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3369" y="1057275"/>
            <a:ext cx="12961262" cy="434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1"/>
              </a:lnSpc>
            </a:pPr>
            <a:r>
              <a:rPr lang="en-US" sz="6574" spc="90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SISTEMA PREDICTIVO DE VENTAS CON LSTM + MECANISMO DE ATENCIÓN</a:t>
            </a:r>
          </a:p>
          <a:p>
            <a:pPr algn="ctr">
              <a:lnSpc>
                <a:spcPts val="3729"/>
              </a:lnSpc>
            </a:pPr>
            <a:r>
              <a:rPr lang="en-US" sz="3187" spc="43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 Equipo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19153" y="6300222"/>
            <a:ext cx="9449694" cy="105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7"/>
              </a:lnSpc>
            </a:pPr>
            <a:r>
              <a:rPr lang="en-US" sz="3399" spc="465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JUAN ESTEBAN AGUDELO-JUAN PABLO JIMENEZ-JUAN ANDRES GARCIA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05288" y="391735"/>
            <a:ext cx="6677423" cy="196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9"/>
              </a:lnSpc>
            </a:pPr>
            <a:r>
              <a:rPr lang="en-US" sz="4329" spc="1251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OBJETIVO DEL EQUIPO</a:t>
            </a:r>
          </a:p>
          <a:p>
            <a:pPr algn="ctr">
              <a:lnSpc>
                <a:spcPts val="523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509184"/>
            <a:ext cx="18288000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rear un modelo de regresión neuronal capaz de predecir ventas utilizando únicamente la variable Temperatura, permitiendoestableceruna referenciabásica frente al modelo múltiple.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58191" y="2629465"/>
            <a:ext cx="10154321" cy="633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24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24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Carga del dataset sintéticogeneradopor el Equipo 1.</a:t>
            </a:r>
          </a:p>
          <a:p>
            <a:pPr algn="l">
              <a:lnSpc>
                <a:spcPts val="4634"/>
              </a:lnSpc>
            </a:pPr>
            <a:r>
              <a:rPr lang="en-US" sz="24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24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Preparación de losdatos, extrayendo solo la columna Temperatura como entrada y Ventas como salida.</a:t>
            </a:r>
          </a:p>
          <a:p>
            <a:pPr algn="l">
              <a:lnSpc>
                <a:spcPts val="4634"/>
              </a:lnSpc>
            </a:pPr>
            <a:r>
              <a:rPr lang="en-US" sz="24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24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Implementación de una red neuronal con:</a:t>
            </a:r>
          </a:p>
          <a:p>
            <a:pPr algn="l">
              <a:lnSpc>
                <a:spcPts val="4634"/>
              </a:lnSpc>
            </a:pPr>
            <a:r>
              <a:rPr lang="en-US" sz="24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24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1 capa densa</a:t>
            </a:r>
          </a:p>
          <a:p>
            <a:pPr algn="l">
              <a:lnSpc>
                <a:spcPts val="4634"/>
              </a:lnSpc>
            </a:pPr>
            <a:r>
              <a:rPr lang="en-US" sz="24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24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1 sola neurona</a:t>
            </a:r>
          </a:p>
          <a:p>
            <a:pPr algn="l">
              <a:lnSpc>
                <a:spcPts val="4634"/>
              </a:lnSpc>
            </a:pPr>
            <a:r>
              <a:rPr lang="en-US" sz="24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24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Entrenamiento durante 500 épocas, monitoreando la pérdida.</a:t>
            </a:r>
          </a:p>
          <a:p>
            <a:pPr algn="l">
              <a:lnSpc>
                <a:spcPts val="4634"/>
              </a:lnSpc>
            </a:pPr>
            <a:r>
              <a:rPr lang="en-US" sz="24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24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Generación de predicciones de prueba.</a:t>
            </a:r>
          </a:p>
          <a:p>
            <a:pPr algn="l">
              <a:lnSpc>
                <a:spcPts val="4634"/>
              </a:lnSpc>
            </a:pPr>
            <a:r>
              <a:rPr lang="en-US" sz="24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24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Guardado del modelo entrenado.</a:t>
            </a:r>
          </a:p>
          <a:p>
            <a:pPr algn="l">
              <a:lnSpc>
                <a:spcPts val="4634"/>
              </a:lnSpc>
            </a:pPr>
            <a:r>
              <a:rPr lang="en-US" sz="24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245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Gráfico de pérdida (Loss) exportado como imagen.</a:t>
            </a:r>
          </a:p>
          <a:p>
            <a:pPr algn="l">
              <a:lnSpc>
                <a:spcPts val="463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132943" y="1028700"/>
            <a:ext cx="6022114" cy="11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601" spc="104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ACTIVIDADES REALIZADAS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67659" y="3231379"/>
            <a:ext cx="12552682" cy="427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</a:pP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•</a:t>
            </a: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Tipo: Perceptrón simple (regresión)</a:t>
            </a:r>
          </a:p>
          <a:p>
            <a:pPr algn="ctr">
              <a:lnSpc>
                <a:spcPts val="5684"/>
              </a:lnSpc>
            </a:pP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•</a:t>
            </a: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Entrada: 1 variable</a:t>
            </a:r>
          </a:p>
          <a:p>
            <a:pPr algn="ctr">
              <a:lnSpc>
                <a:spcPts val="5684"/>
              </a:lnSpc>
            </a:pP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•</a:t>
            </a: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Salida: 1 valor continuo</a:t>
            </a:r>
          </a:p>
          <a:p>
            <a:pPr algn="ctr">
              <a:lnSpc>
                <a:spcPts val="5684"/>
              </a:lnSpc>
            </a:pP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•</a:t>
            </a: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Optimizador: Adam (lr = 0.1)</a:t>
            </a:r>
          </a:p>
          <a:p>
            <a:pPr algn="ctr">
              <a:lnSpc>
                <a:spcPts val="5684"/>
              </a:lnSpc>
            </a:pP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•</a:t>
            </a:r>
            <a:r>
              <a:rPr lang="en-US" sz="4776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Loss: MSE</a:t>
            </a:r>
          </a:p>
          <a:p>
            <a:pPr algn="ctr">
              <a:lnSpc>
                <a:spcPts val="568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451990" y="850925"/>
            <a:ext cx="9384020" cy="165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</a:pPr>
            <a:r>
              <a:rPr lang="en-US" sz="3601" spc="104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ARQUITECTURA DEL MODELO</a:t>
            </a:r>
          </a:p>
          <a:p>
            <a:pPr algn="ctr" marL="0" indent="0" lvl="0">
              <a:lnSpc>
                <a:spcPts val="43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51990" y="1457329"/>
            <a:ext cx="9384020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601" spc="104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RESULTADOS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80096" y="3185130"/>
            <a:ext cx="9813694" cy="571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2"/>
              </a:lnSpc>
            </a:pPr>
            <a:r>
              <a:rPr lang="en-US" sz="303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303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El modelo pudo ajustar una relación lineal entre temperatura y ventas.</a:t>
            </a:r>
          </a:p>
          <a:p>
            <a:pPr algn="l">
              <a:lnSpc>
                <a:spcPts val="5732"/>
              </a:lnSpc>
            </a:pPr>
            <a:r>
              <a:rPr lang="en-US" sz="303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303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Predicciones generadas para temperaturas de 15, 20, 30 y 40 grados.</a:t>
            </a:r>
          </a:p>
          <a:p>
            <a:pPr algn="l">
              <a:lnSpc>
                <a:spcPts val="5732"/>
              </a:lnSpc>
            </a:pPr>
            <a:r>
              <a:rPr lang="en-US" sz="303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303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Gráfico de pérdida que refleja convergencia estable.</a:t>
            </a:r>
          </a:p>
          <a:p>
            <a:pPr algn="l">
              <a:lnSpc>
                <a:spcPts val="5732"/>
              </a:lnSpc>
            </a:pPr>
            <a:r>
              <a:rPr lang="en-US" sz="303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•</a:t>
            </a:r>
            <a:r>
              <a:rPr lang="en-US" sz="303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Modelo guardado como modelo_simple.h5.</a:t>
            </a:r>
          </a:p>
          <a:p>
            <a:pPr algn="l">
              <a:lnSpc>
                <a:spcPts val="573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32943" y="1226177"/>
            <a:ext cx="6022114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601" spc="104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CONCLUSIONES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44338" y="2467001"/>
            <a:ext cx="11399324" cy="4646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•El modelo simple es ligero, rápido y fácil de interpretar.</a:t>
            </a:r>
          </a:p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•Funcionacomo referencia base para comparar contra modelos más complejos.</a:t>
            </a:r>
          </a:p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•Su precisión depende fuertemente de la linealidad de la variable Temperatura.</a:t>
            </a:r>
          </a:p>
          <a:p>
            <a:pPr algn="ctr">
              <a:lnSpc>
                <a:spcPts val="53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44072" y="2084942"/>
            <a:ext cx="9014171" cy="5780337"/>
          </a:xfrm>
          <a:custGeom>
            <a:avLst/>
            <a:gdLst/>
            <a:ahLst/>
            <a:cxnLst/>
            <a:rect r="r" b="b" t="t" l="l"/>
            <a:pathLst>
              <a:path h="5780337" w="9014171">
                <a:moveTo>
                  <a:pt x="0" y="0"/>
                </a:moveTo>
                <a:lnTo>
                  <a:pt x="9014171" y="0"/>
                </a:lnTo>
                <a:lnTo>
                  <a:pt x="9014171" y="5780337"/>
                </a:lnTo>
                <a:lnTo>
                  <a:pt x="0" y="5780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32943" y="1226177"/>
            <a:ext cx="6022114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601" spc="104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CODIGO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1632" y="4404895"/>
            <a:ext cx="13190436" cy="152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6"/>
              </a:lnSpc>
            </a:pPr>
            <a:r>
              <a:rPr lang="en-US" sz="10219" spc="140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DAG6eepuOjY</dc:identifier>
  <dcterms:modified xsi:type="dcterms:W3CDTF">2011-08-01T06:04:30Z</dcterms:modified>
  <cp:revision>1</cp:revision>
  <dc:title>Presentación Propuesta Proyecto Corporativo Elegante Negro</dc:title>
</cp:coreProperties>
</file>